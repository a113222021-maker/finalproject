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3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102240" y="2386744"/>
            <a:ext cx="693952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5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4352544"/>
            <a:ext cx="5101209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19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178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068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106424" y="2386744"/>
            <a:ext cx="6940296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5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4352465"/>
            <a:ext cx="5101209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900">
                <a:solidFill>
                  <a:schemeClr val="tx1"/>
                </a:solidFill>
              </a:defRPr>
            </a:lvl1pPr>
            <a:lvl2pPr marL="45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644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39" y="2638044"/>
            <a:ext cx="3288023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2638044"/>
            <a:ext cx="3290516" cy="310198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759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2239" y="2313434"/>
            <a:ext cx="3288024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2239" y="3143250"/>
            <a:ext cx="3288024" cy="259677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3143250"/>
            <a:ext cx="3290516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2313434"/>
            <a:ext cx="3290516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134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23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1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703" y="2243829"/>
            <a:ext cx="3290594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804672"/>
            <a:ext cx="361188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8"/>
            <a:ext cx="284607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40703" y="6236208"/>
            <a:ext cx="3806398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73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40080" y="2243828"/>
            <a:ext cx="3291840" cy="11430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2100">
                <a:solidFill>
                  <a:srgbClr val="262626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-42172"/>
            <a:ext cx="4576573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2965" y="3549919"/>
            <a:ext cx="284607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40080" y="6236208"/>
            <a:ext cx="3803904" cy="32004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50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25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937260"/>
            <a:ext cx="1053966" cy="4983480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06046" y="937260"/>
            <a:ext cx="4716174" cy="498348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9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06045" y="964692"/>
            <a:ext cx="5937755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6045" y="2638045"/>
            <a:ext cx="5937755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8943" y="6238816"/>
            <a:ext cx="2065310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02239" y="6236208"/>
            <a:ext cx="4556664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40112" y="6217920"/>
            <a:ext cx="365760" cy="36576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231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6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44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28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期末專題報告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 err="1"/>
              <a:t>課程：Java</a:t>
            </a:r>
            <a:r>
              <a:rPr sz="2000" dirty="0"/>
              <a:t> </a:t>
            </a:r>
            <a:r>
              <a:rPr sz="2000" dirty="0" err="1"/>
              <a:t>物件導向</a:t>
            </a:r>
            <a:endParaRPr sz="2000" dirty="0"/>
          </a:p>
          <a:p>
            <a:pPr marL="0" indent="0">
              <a:buNone/>
            </a:pPr>
            <a:r>
              <a:rPr sz="2000" dirty="0" err="1"/>
              <a:t>主題：Online</a:t>
            </a:r>
            <a:r>
              <a:rPr sz="2000" dirty="0"/>
              <a:t> Test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3122" y="964692"/>
            <a:ext cx="5937755" cy="1188720"/>
          </a:xfrm>
        </p:spPr>
        <p:txBody>
          <a:bodyPr/>
          <a:lstStyle/>
          <a:p>
            <a:r>
              <a:rPr lang="zh-TW" altLang="en-US" dirty="0"/>
              <a:t>目錄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121" y="2638045"/>
            <a:ext cx="5937755" cy="3101983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系統目標</a:t>
            </a:r>
            <a:endParaRPr lang="en-US" altLang="zh-TW" dirty="0"/>
          </a:p>
          <a:p>
            <a:r>
              <a:rPr lang="zh-TW" altLang="en-US" dirty="0"/>
              <a:t>系統架構</a:t>
            </a:r>
            <a:endParaRPr lang="en-US" altLang="zh-TW" dirty="0"/>
          </a:p>
          <a:p>
            <a:r>
              <a:rPr lang="zh-TW" altLang="en-US" dirty="0"/>
              <a:t>題型設計</a:t>
            </a:r>
            <a:endParaRPr lang="en-US" altLang="zh-TW" dirty="0"/>
          </a:p>
          <a:p>
            <a:r>
              <a:rPr lang="zh-TW" altLang="en-US" dirty="0"/>
              <a:t>評分機制</a:t>
            </a:r>
            <a:endParaRPr lang="en-US" altLang="zh-TW" dirty="0"/>
          </a:p>
          <a:p>
            <a:r>
              <a:rPr lang="zh-TW" altLang="en-US" dirty="0"/>
              <a:t>操作流程</a:t>
            </a:r>
            <a:endParaRPr lang="en-US" altLang="zh-TW" dirty="0"/>
          </a:p>
          <a:p>
            <a:r>
              <a:rPr lang="zh-TW" altLang="en-US" dirty="0"/>
              <a:t>輸出功能</a:t>
            </a:r>
            <a:endParaRPr lang="en-US" altLang="zh-TW" dirty="0"/>
          </a:p>
          <a:p>
            <a:r>
              <a:rPr lang="zh-TW" altLang="en-US" dirty="0"/>
              <a:t>物件導向特色</a:t>
            </a:r>
            <a:endParaRPr lang="en-US" altLang="zh-TW" dirty="0"/>
          </a:p>
          <a:p>
            <a:r>
              <a:rPr lang="zh-TW" altLang="en-US" dirty="0"/>
              <a:t>成果展示</a:t>
            </a:r>
            <a:endParaRPr lang="en-US" altLang="zh-TW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系統目標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5595" y="2549554"/>
            <a:ext cx="2329218" cy="21550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solidFill>
                  <a:schemeClr val="tx2"/>
                </a:solidFill>
              </a:rPr>
              <a:t>• </a:t>
            </a:r>
            <a:r>
              <a:rPr sz="2000" b="1" dirty="0" err="1">
                <a:solidFill>
                  <a:schemeClr val="tx2"/>
                </a:solidFill>
              </a:rPr>
              <a:t>提供多種題型</a:t>
            </a:r>
            <a:endParaRPr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chemeClr val="tx2"/>
                </a:solidFill>
              </a:rPr>
              <a:t>• </a:t>
            </a:r>
            <a:r>
              <a:rPr sz="2000" b="1" dirty="0" err="1">
                <a:solidFill>
                  <a:schemeClr val="tx2"/>
                </a:solidFill>
              </a:rPr>
              <a:t>自動評分</a:t>
            </a:r>
            <a:endParaRPr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chemeClr val="tx2"/>
                </a:solidFill>
              </a:rPr>
              <a:t>• </a:t>
            </a:r>
            <a:r>
              <a:rPr sz="2000" b="1" dirty="0" err="1">
                <a:solidFill>
                  <a:schemeClr val="tx2"/>
                </a:solidFill>
              </a:rPr>
              <a:t>成績報表輸出</a:t>
            </a:r>
            <a:endParaRPr sz="20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sz="2000" b="1" dirty="0">
                <a:solidFill>
                  <a:schemeClr val="tx2"/>
                </a:solidFill>
              </a:rPr>
              <a:t>• </a:t>
            </a:r>
            <a:r>
              <a:rPr sz="2000" b="1" dirty="0" err="1">
                <a:solidFill>
                  <a:schemeClr val="tx2"/>
                </a:solidFill>
              </a:rPr>
              <a:t>物件導向設計</a:t>
            </a:r>
            <a:endParaRPr lang="en-US" sz="2000" b="1" dirty="0">
              <a:solidFill>
                <a:schemeClr val="tx2"/>
              </a:solidFill>
            </a:endParaRP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418D45F-3338-F463-A921-7490F51AF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34814" y="2774660"/>
            <a:ext cx="5142270" cy="310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/>
              <a:t>   我們這個系統的目標主要有三個</a:t>
            </a:r>
            <a:endParaRPr lang="en-US" altLang="zh-TW" dirty="0"/>
          </a:p>
          <a:p>
            <a:pPr marL="0" indent="0">
              <a:buNone/>
            </a:pPr>
            <a:br>
              <a:rPr lang="zh-TW" altLang="en-US" dirty="0"/>
            </a:br>
            <a:r>
              <a:rPr lang="zh-TW" altLang="en-US" dirty="0"/>
              <a:t>  </a:t>
            </a:r>
            <a:r>
              <a:rPr lang="en-US" altLang="zh-TW" dirty="0"/>
              <a:t>1.</a:t>
            </a:r>
            <a:r>
              <a:rPr lang="zh-TW" altLang="en-US" dirty="0"/>
              <a:t>支援多種題型，而不是只有單選題</a:t>
            </a:r>
            <a:br>
              <a:rPr lang="zh-TW" altLang="en-US" dirty="0"/>
            </a:br>
            <a:r>
              <a:rPr lang="en-US" altLang="zh-TW" dirty="0"/>
              <a:t>  2.</a:t>
            </a:r>
            <a:r>
              <a:rPr lang="zh-TW" altLang="en-US" dirty="0"/>
              <a:t>能夠自動評分，減少人工處理</a:t>
            </a:r>
            <a:br>
              <a:rPr lang="zh-TW" altLang="en-US" dirty="0"/>
            </a:br>
            <a:r>
              <a:rPr lang="en-US" altLang="zh-TW" dirty="0"/>
              <a:t>  3.</a:t>
            </a:r>
            <a:r>
              <a:rPr lang="zh-TW" altLang="en-US" dirty="0"/>
              <a:t>可以產生成績資料檔，匯出成 </a:t>
            </a:r>
            <a:r>
              <a:rPr lang="en-US" altLang="zh-TW" dirty="0"/>
              <a:t>CSV </a:t>
            </a:r>
            <a:r>
              <a:rPr lang="zh-TW" altLang="en-US" dirty="0"/>
              <a:t>檔案</a:t>
            </a:r>
            <a:br>
              <a:rPr lang="zh-TW" altLang="en-US" dirty="0"/>
            </a:br>
            <a:endParaRPr lang="zh-TW" altLang="en-US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系統架構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40" y="2638044"/>
            <a:ext cx="2683180" cy="1796304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b="1" dirty="0">
                <a:solidFill>
                  <a:schemeClr val="tx2"/>
                </a:solidFill>
              </a:rPr>
              <a:t>Exam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</a:t>
            </a:r>
            <a:r>
              <a:rPr b="1" dirty="0" err="1">
                <a:solidFill>
                  <a:schemeClr val="tx2"/>
                </a:solidFill>
              </a:rPr>
              <a:t>Question（抽象類別</a:t>
            </a:r>
            <a:r>
              <a:rPr b="1" dirty="0">
                <a:solidFill>
                  <a:schemeClr val="tx2"/>
                </a:solidFill>
              </a:rPr>
              <a:t>）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Student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</a:t>
            </a:r>
            <a:r>
              <a:rPr b="1" dirty="0" err="1">
                <a:solidFill>
                  <a:schemeClr val="tx2"/>
                </a:solidFill>
              </a:rPr>
              <a:t>ExamSession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FD7BF8-F430-35F0-3301-958330F2B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23071" y="2638044"/>
            <a:ext cx="5122606" cy="1914291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/>
              <a:t>Exam </a:t>
            </a:r>
            <a:r>
              <a:rPr lang="zh-TW" altLang="en-US" dirty="0"/>
              <a:t>負責管理整份考試，包含題目清單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Question </a:t>
            </a:r>
            <a:r>
              <a:rPr lang="zh-TW" altLang="en-US" dirty="0"/>
              <a:t>是一個抽象類別，不同題型都會繼承它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Student </a:t>
            </a:r>
            <a:r>
              <a:rPr lang="zh-TW" altLang="en-US" dirty="0"/>
              <a:t>用來記錄學生資訊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ExamSession</a:t>
            </a:r>
            <a:r>
              <a:rPr lang="en-US" altLang="zh-TW" dirty="0"/>
              <a:t> </a:t>
            </a:r>
            <a:r>
              <a:rPr lang="zh-TW" altLang="en-US" dirty="0"/>
              <a:t>則負責學生實際作答的過程</a:t>
            </a:r>
            <a:br>
              <a:rPr lang="zh-TW" altLang="en-US" dirty="0"/>
            </a:br>
            <a:r>
              <a:rPr lang="zh-TW" altLang="en-US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題型設計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單選題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複選題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是非題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填充題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簡答題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評分機制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40" y="2638044"/>
            <a:ext cx="1926096" cy="1570162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b="1" dirty="0" err="1">
                <a:solidFill>
                  <a:schemeClr val="tx2"/>
                </a:solidFill>
              </a:rPr>
              <a:t>自動比對答案</a:t>
            </a:r>
            <a:endParaRPr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</a:t>
            </a:r>
            <a:r>
              <a:rPr b="1" dirty="0" err="1">
                <a:solidFill>
                  <a:schemeClr val="tx2"/>
                </a:solidFill>
              </a:rPr>
              <a:t>支援部分給分</a:t>
            </a:r>
            <a:endParaRPr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</a:t>
            </a:r>
            <a:r>
              <a:rPr b="1" dirty="0" err="1">
                <a:solidFill>
                  <a:schemeClr val="tx2"/>
                </a:solidFill>
              </a:rPr>
              <a:t>紀錄作答狀態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A2A7BD6-CCC6-7869-00A7-6D79FEE8D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7044" y="2638044"/>
            <a:ext cx="5098028" cy="3101982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系統在評分時，會依照不同題型進行判斷，對於選擇題是直接比對答案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有些題型則支援部分給分，同時系統會紀錄學生的作答狀態，方便後續統計</a:t>
            </a:r>
            <a:br>
              <a:rPr lang="zh-TW" altLang="en-US" dirty="0"/>
            </a:br>
            <a:br>
              <a:rPr lang="zh-TW" altLang="en-US" dirty="0"/>
            </a:b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操作流程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</a:t>
            </a:r>
            <a:r>
              <a:rPr dirty="0" err="1"/>
              <a:t>建立考試</a:t>
            </a:r>
            <a:endParaRPr dirty="0"/>
          </a:p>
          <a:p>
            <a:pPr marL="0" indent="0">
              <a:buNone/>
            </a:pPr>
            <a:r>
              <a:rPr dirty="0"/>
              <a:t>2. </a:t>
            </a:r>
            <a:r>
              <a:rPr dirty="0" err="1"/>
              <a:t>學生作答</a:t>
            </a:r>
            <a:endParaRPr dirty="0"/>
          </a:p>
          <a:p>
            <a:pPr marL="0" indent="0">
              <a:buNone/>
            </a:pPr>
            <a:r>
              <a:rPr dirty="0"/>
              <a:t>3. </a:t>
            </a:r>
            <a:r>
              <a:rPr dirty="0" err="1"/>
              <a:t>系統評分</a:t>
            </a:r>
            <a:endParaRPr dirty="0"/>
          </a:p>
          <a:p>
            <a:pPr marL="0" indent="0">
              <a:buNone/>
            </a:pPr>
            <a:r>
              <a:rPr dirty="0"/>
              <a:t>4. </a:t>
            </a:r>
            <a:r>
              <a:rPr dirty="0" err="1"/>
              <a:t>產生成績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輸出功能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2240" y="2638044"/>
            <a:ext cx="2122742" cy="980227"/>
          </a:xfrm>
        </p:spPr>
        <p:txBody>
          <a:bodyPr/>
          <a:lstStyle/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</a:t>
            </a:r>
            <a:r>
              <a:rPr b="1" dirty="0" err="1">
                <a:solidFill>
                  <a:schemeClr val="tx2"/>
                </a:solidFill>
              </a:rPr>
              <a:t>成績</a:t>
            </a:r>
            <a:r>
              <a:rPr lang="zh-TW" altLang="en-US" b="1" dirty="0">
                <a:solidFill>
                  <a:schemeClr val="tx2"/>
                </a:solidFill>
              </a:rPr>
              <a:t>資料</a:t>
            </a:r>
            <a:r>
              <a:rPr b="1" dirty="0">
                <a:solidFill>
                  <a:schemeClr val="tx2"/>
                </a:solidFill>
              </a:rPr>
              <a:t>表</a:t>
            </a:r>
          </a:p>
          <a:p>
            <a:pPr marL="0" indent="0">
              <a:buNone/>
            </a:pPr>
            <a:r>
              <a:rPr b="1" dirty="0">
                <a:solidFill>
                  <a:schemeClr val="tx2"/>
                </a:solidFill>
              </a:rPr>
              <a:t>•  </a:t>
            </a:r>
            <a:r>
              <a:rPr b="1" dirty="0" err="1">
                <a:solidFill>
                  <a:schemeClr val="tx2"/>
                </a:solidFill>
              </a:rPr>
              <a:t>匯出</a:t>
            </a:r>
            <a:r>
              <a:rPr lang="zh-TW" altLang="en-US" b="1" dirty="0">
                <a:solidFill>
                  <a:schemeClr val="tx2"/>
                </a:solidFill>
              </a:rPr>
              <a:t>成</a:t>
            </a:r>
            <a:r>
              <a:rPr lang="en-US" altLang="zh-TW" b="1" dirty="0">
                <a:solidFill>
                  <a:schemeClr val="tx2"/>
                </a:solidFill>
              </a:rPr>
              <a:t>CSV</a:t>
            </a:r>
            <a:r>
              <a:rPr lang="zh-TW" altLang="en-US" b="1" dirty="0">
                <a:solidFill>
                  <a:schemeClr val="tx2"/>
                </a:solidFill>
              </a:rPr>
              <a:t>檔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CE7DB1-A056-7DB6-81E9-8F8D6CE95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53580" y="2650875"/>
            <a:ext cx="4090220" cy="3101982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系統可以產生成績資料表，並支援匯出成 </a:t>
            </a:r>
            <a:r>
              <a:rPr lang="en-US" altLang="zh-TW" dirty="0"/>
              <a:t>CSV </a:t>
            </a:r>
            <a:r>
              <a:rPr lang="zh-TW" altLang="en-US" dirty="0"/>
              <a:t>檔案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A82A3-A660-57B5-9B3C-516CAB571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物件導向特色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53DDEA6-7DA2-B32D-7AA8-FE7EFB250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25026" y="2638044"/>
            <a:ext cx="2083413" cy="1884795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>
                <a:solidFill>
                  <a:schemeClr val="tx2"/>
                </a:solidFill>
              </a:rPr>
              <a:t>1.</a:t>
            </a:r>
            <a:r>
              <a:rPr lang="zh-TW" altLang="en-US" b="1" dirty="0">
                <a:solidFill>
                  <a:schemeClr val="tx2"/>
                </a:solidFill>
              </a:rPr>
              <a:t>繼承</a:t>
            </a:r>
            <a:endParaRPr lang="en-US" altLang="zh-TW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TW" b="1" dirty="0">
                <a:solidFill>
                  <a:schemeClr val="tx2"/>
                </a:solidFill>
              </a:rPr>
              <a:t>2.</a:t>
            </a:r>
            <a:r>
              <a:rPr lang="zh-TW" altLang="en-US" b="1" dirty="0">
                <a:solidFill>
                  <a:schemeClr val="tx2"/>
                </a:solidFill>
              </a:rPr>
              <a:t>多型</a:t>
            </a:r>
            <a:endParaRPr lang="en-US" altLang="zh-TW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TW" b="1" dirty="0">
                <a:solidFill>
                  <a:schemeClr val="tx2"/>
                </a:solidFill>
              </a:rPr>
              <a:t>3.</a:t>
            </a:r>
            <a:r>
              <a:rPr lang="zh-TW" altLang="en-US" b="1" dirty="0">
                <a:solidFill>
                  <a:schemeClr val="tx2"/>
                </a:solidFill>
              </a:rPr>
              <a:t>封裝</a:t>
            </a:r>
            <a:endParaRPr lang="en-US" altLang="zh-TW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altLang="zh-TW" b="1" dirty="0">
                <a:solidFill>
                  <a:schemeClr val="tx2"/>
                </a:solidFill>
              </a:rPr>
              <a:t>4.</a:t>
            </a:r>
            <a:r>
              <a:rPr lang="zh-TW" altLang="en-US" b="1" dirty="0">
                <a:solidFill>
                  <a:schemeClr val="tx2"/>
                </a:solidFill>
              </a:rPr>
              <a:t>單一職責</a:t>
            </a:r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14764B0-3536-D9AC-1F19-044C00DF5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55923" y="2638044"/>
            <a:ext cx="4858601" cy="3101982"/>
          </a:xfrm>
        </p:spPr>
        <p:txBody>
          <a:bodyPr/>
          <a:lstStyle/>
          <a:p>
            <a:pPr marL="0" indent="0">
              <a:buNone/>
            </a:pPr>
            <a:r>
              <a:rPr lang="zh-TW" altLang="en-US" dirty="0"/>
              <a:t>包含繼承，讓不同題型共用 </a:t>
            </a:r>
            <a:r>
              <a:rPr lang="en-US" altLang="zh-TW" dirty="0"/>
              <a:t>Question </a:t>
            </a:r>
            <a:r>
              <a:rPr lang="zh-TW" altLang="en-US" dirty="0"/>
              <a:t>的結構</a:t>
            </a:r>
            <a:br>
              <a:rPr lang="zh-TW" altLang="en-US" dirty="0"/>
            </a:br>
            <a:r>
              <a:rPr lang="zh-TW" altLang="en-US" dirty="0"/>
              <a:t>多型則讓系統在評分時，不需要知道實際是哪一種題型</a:t>
            </a:r>
            <a:br>
              <a:rPr lang="zh-TW" altLang="en-US" dirty="0"/>
            </a:br>
            <a:r>
              <a:rPr lang="zh-TW" altLang="en-US" dirty="0"/>
              <a:t>同時也有封裝與單一職責，讓每個類別負責單一功能</a:t>
            </a:r>
            <a:br>
              <a:rPr lang="zh-TW" altLang="en-US" dirty="0"/>
            </a:br>
            <a:r>
              <a:rPr lang="zh-TW" altLang="en-US" dirty="0"/>
              <a:t>提高程式的可讀性與維護性</a:t>
            </a:r>
          </a:p>
        </p:txBody>
      </p:sp>
    </p:spTree>
    <p:extLst>
      <p:ext uri="{BB962C8B-B14F-4D97-AF65-F5344CB8AC3E}">
        <p14:creationId xmlns:p14="http://schemas.microsoft.com/office/powerpoint/2010/main" val="317210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成果展示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可執行主程式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題目與學生管理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完整測驗流程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AF588-57F8-B091-1DB8-AF9DFD4E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DDC7B-2B86-5D9B-94D8-7B29CB9F2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分工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D0B8F-1C7A-1499-88BB-034B5E7C7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zh-TW" altLang="en-US" dirty="0"/>
              <a:t>約</a:t>
            </a:r>
            <a:r>
              <a:rPr lang="en-US" altLang="zh-TW" dirty="0"/>
              <a:t>5:5</a:t>
            </a:r>
            <a:r>
              <a:rPr lang="zh-TW" altLang="en-US"/>
              <a:t>，但多數為共同討論完成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35608509"/>
      </p:ext>
    </p:extLst>
  </p:cSld>
  <p:clrMapOvr>
    <a:masterClrMapping/>
  </p:clrMapOvr>
</p:sld>
</file>

<file path=ppt/theme/theme1.xml><?xml version="1.0" encoding="utf-8"?>
<a:theme xmlns:a="http://schemas.openxmlformats.org/drawingml/2006/main" name="包裹">
  <a:themeElements>
    <a:clrScheme name="包裹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包裹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包裹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TM10001115[[fn=包裹]]</Template>
  <TotalTime>57</TotalTime>
  <Words>327</Words>
  <Application>Microsoft Office PowerPoint</Application>
  <PresentationFormat>如螢幕大小 (4:3)</PresentationFormat>
  <Paragraphs>61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4" baseType="lpstr">
      <vt:lpstr>Arial</vt:lpstr>
      <vt:lpstr>Gill Sans MT</vt:lpstr>
      <vt:lpstr>包裹</vt:lpstr>
      <vt:lpstr>期末專題報告</vt:lpstr>
      <vt:lpstr>目錄</vt:lpstr>
      <vt:lpstr>系統目標</vt:lpstr>
      <vt:lpstr>系統架構</vt:lpstr>
      <vt:lpstr>題型設計</vt:lpstr>
      <vt:lpstr>評分機制</vt:lpstr>
      <vt:lpstr>操作流程</vt:lpstr>
      <vt:lpstr>輸出功能</vt:lpstr>
      <vt:lpstr>物件導向特色</vt:lpstr>
      <vt:lpstr>成果展示</vt:lpstr>
      <vt:lpstr>分工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Avina</dc:creator>
  <cp:keywords/>
  <dc:description>generated using python-pptx</dc:description>
  <cp:lastModifiedBy>鄭凱云</cp:lastModifiedBy>
  <cp:revision>5</cp:revision>
  <dcterms:created xsi:type="dcterms:W3CDTF">2013-01-27T09:14:16Z</dcterms:created>
  <dcterms:modified xsi:type="dcterms:W3CDTF">2025-12-23T08:08:20Z</dcterms:modified>
  <cp:category/>
</cp:coreProperties>
</file>